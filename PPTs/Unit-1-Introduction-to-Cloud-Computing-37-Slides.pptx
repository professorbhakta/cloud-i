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8C2E"/>
                </a:solidFill>
                <a:latin typeface="Calibri"/>
              </a:rPr>
              <a:t>CLOUD COMPUTING – I (CC-I)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Unit 1: Introduction to Cloud Computing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F1F5"/>
                </a:solidFill>
                <a:latin typeface="Calibri"/>
              </a:rPr>
              <a:t>Complete Topic &amp; Subtopic Coverage  •  37 Slides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F1F5"/>
                </a:solidFill>
                <a:latin typeface="Calibri"/>
              </a:rPr>
              <a:t>Subject Code: 05201289
Based on Unit-1 Expanded Study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New presentation — does not replace any existing Unit-1 PPT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Agenda — What Unit 1 Covers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E748A"/>
                </a:solidFill>
                <a:latin typeface="Calibri"/>
              </a:rPr>
              <a:t>Syllabus topics &amp; subtopics mapped to this deck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Cloud Computing – I (CC-I)  |  05201289  |  Unit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 / 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Why cloud computing matters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Basic terminologies &amp; foundations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Introduction &amp; NIST definition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History and evolution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NIST essential characteristics (OBRUM)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Pros and cons of cloud computing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Nature of cloud computing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Technologies in cloud computing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Working of cloud computing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Service &amp; deployment models (bridge)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Major cloud providers (AWS / Azure / GCP)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Cloud applications in real life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Migrating into the cloud (Six R’s)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Trends, future scope &amp;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Why Cloud Computing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E748A"/>
                </a:solidFill>
                <a:latin typeface="Calibri"/>
              </a:rPr>
              <a:t>Unit 1 big picture — computing as a service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Cloud Computing – I (CC-I)  |  05201289  |  Unit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3 / 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• Traditional IT</a:t>
            </a:r>
            <a:r>
              <a:rPr sz="1600" b="0">
                <a:solidFill>
                  <a:srgbClr val="4A5A66"/>
                </a:solidFill>
                <a:latin typeface="Calibri"/>
              </a:rPr>
              <a:t> — Buy servers, licences, cooling, admins — weeks/months before ready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• Cloud model</a:t>
            </a:r>
            <a:r>
              <a:rPr sz="1600" b="0">
                <a:solidFill>
                  <a:srgbClr val="4A5A66"/>
                </a:solidFill>
                <a:latin typeface="Calibri"/>
              </a:rPr>
              <a:t> — Resources available over the internet in minutes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• Core idea</a:t>
            </a:r>
            <a:r>
              <a:rPr sz="1600" b="0">
                <a:solidFill>
                  <a:srgbClr val="4A5A66"/>
                </a:solidFill>
                <a:latin typeface="Calibri"/>
              </a:rPr>
              <a:t> — Computing becomes a utility — pay by usage or subscription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• NIST focus</a:t>
            </a:r>
            <a:r>
              <a:rPr sz="1600" b="0">
                <a:solidFill>
                  <a:srgbClr val="4A5A66"/>
                </a:solidFill>
                <a:latin typeface="Calibri"/>
              </a:rPr>
              <a:t> — On-demand access to a shared pool of configurable resources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• Digital economy</a:t>
            </a:r>
            <a:r>
              <a:rPr sz="1600" b="0">
                <a:solidFill>
                  <a:srgbClr val="4A5A66"/>
                </a:solidFill>
                <a:latin typeface="Calibri"/>
              </a:rPr>
              <a:t> — Streaming, banking, e-commerce, education, AI, gov portals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• Balanced view</a:t>
            </a:r>
            <a:r>
              <a:rPr sz="1600" b="0">
                <a:solidFill>
                  <a:srgbClr val="4A5A66"/>
                </a:solidFill>
                <a:latin typeface="Calibri"/>
              </a:rPr>
              <a:t> — Flexibility + speed + scale — but needs governance &amp; security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Basic Terminologies (1/3)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E748A"/>
                </a:solidFill>
                <a:latin typeface="Calibri"/>
              </a:rPr>
              <a:t>Cloud, storage, server, data center, client, network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Cloud Computing – I (CC-I)  |  05201289  |  Unit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4 / 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71600"/>
            <a:ext cx="3657600" cy="219456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371600"/>
            <a:ext cx="73152" cy="219456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4630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48A"/>
                </a:solidFill>
                <a:latin typeface="Calibri"/>
              </a:rPr>
              <a:t>Cloud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783080"/>
            <a:ext cx="3429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Remote resources via network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Servers, storage, software,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security &amp; management tools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371600"/>
            <a:ext cx="3657600" cy="219456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371600"/>
            <a:ext cx="73152" cy="219456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4630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48A"/>
                </a:solidFill>
                <a:latin typeface="Calibri"/>
              </a:rPr>
              <a:t>Cloud vs 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783080"/>
            <a:ext cx="3429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Storage = remote data only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Computing = CPU, DB, apps,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AI &amp; full services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2440" y="1371600"/>
            <a:ext cx="3657600" cy="219456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371600"/>
            <a:ext cx="73152" cy="219456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4630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48A"/>
                </a:solidFill>
                <a:latin typeface="Calibri"/>
              </a:rPr>
              <a:t>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783080"/>
            <a:ext cx="3429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Provides services over network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Users get virtualized /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managed capacity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749039"/>
            <a:ext cx="3657600" cy="219456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3749039"/>
            <a:ext cx="73152" cy="219456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84047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48A"/>
                </a:solidFill>
                <a:latin typeface="Calibri"/>
              </a:rPr>
              <a:t>Data Center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160519"/>
            <a:ext cx="3429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Physical facility for IT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Power, cooling, security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Regions improve latency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60" y="3749039"/>
            <a:ext cx="3657600" cy="219456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51960" y="3749039"/>
            <a:ext cx="73152" cy="219456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384047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48A"/>
                </a:solidFill>
                <a:latin typeface="Calibri"/>
              </a:rPr>
              <a:t>Client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4160519"/>
            <a:ext cx="3429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Device/app requesting service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Browser, mobile, CLI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Talks to cloud front end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92440" y="3749039"/>
            <a:ext cx="3657600" cy="219456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92440" y="3749039"/>
            <a:ext cx="73152" cy="219456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20" y="384047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48A"/>
                </a:solidFill>
                <a:latin typeface="Calibri"/>
              </a:rPr>
              <a:t>Network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160519"/>
            <a:ext cx="3429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Path to cloud services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Internet / VPN / private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Enables broad access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Basic Terminologies (2/3)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E748A"/>
                </a:solidFill>
                <a:latin typeface="Calibri"/>
              </a:rPr>
              <a:t>Virtualization, hypervisor, multi-tenancy, resource pooling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Cloud Computing – I (CC-I)  |  05201289  |  Unit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5 / 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71600"/>
            <a:ext cx="5486400" cy="228600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371600"/>
            <a:ext cx="73152" cy="228600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4630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48A"/>
                </a:solidFill>
                <a:latin typeface="Calibri"/>
              </a:rPr>
              <a:t>Virtualization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783080"/>
            <a:ext cx="52578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One physical machine → many VMs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Each VM: own OS, CPU, RAM, disk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Efficient hardware sharing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Logical isolation between customers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371600"/>
            <a:ext cx="5486400" cy="228600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371600"/>
            <a:ext cx="73152" cy="228600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4630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48A"/>
                </a:solidFill>
                <a:latin typeface="Calibri"/>
              </a:rPr>
              <a:t>Hypervisor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783080"/>
            <a:ext cx="52578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Creates &amp; manages VMs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Sits between hardware and VMs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Examples: VMware ESXi, Hyper-V,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KVM, Xen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840480"/>
            <a:ext cx="5486400" cy="228600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840480"/>
            <a:ext cx="73152" cy="228600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9319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48A"/>
                </a:solidFill>
                <a:latin typeface="Calibri"/>
              </a:rPr>
              <a:t>Multi-tenancy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251960"/>
            <a:ext cx="52578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One platform, many tenants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Data logically separated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Needs strong IAM &amp; isolation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Common in SaaS platforms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3840480"/>
            <a:ext cx="5486400" cy="228600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3840480"/>
            <a:ext cx="73152" cy="228600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39319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48A"/>
                </a:solidFill>
                <a:latin typeface="Calibri"/>
              </a:rPr>
              <a:t>Resource Pooling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251960"/>
            <a:ext cx="52578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Shared pool assigned on demand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User may not know exact server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High utilization for provider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Fast provisioning for users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Basic Terminologies (3/3)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E748A"/>
                </a:solidFill>
                <a:latin typeface="Calibri"/>
              </a:rPr>
              <a:t>Provisioning, elasticity, scalability, API, SLA, CapEx / OpEx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Cloud Computing – I (CC-I)  |  05201289  |  Unit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6 / 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• Provisioning</a:t>
            </a:r>
            <a:r>
              <a:rPr sz="1600" b="0">
                <a:solidFill>
                  <a:srgbClr val="4A5A66"/>
                </a:solidFill>
                <a:latin typeface="Calibri"/>
              </a:rPr>
              <a:t> — Making a resource ready — click / API / IaC instead of buying hardware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• Elasticity</a:t>
            </a:r>
            <a:r>
              <a:rPr sz="1600" b="0">
                <a:solidFill>
                  <a:srgbClr val="4A5A66"/>
                </a:solidFill>
                <a:latin typeface="Calibri"/>
              </a:rPr>
              <a:t> — Quickly increase/decrease resources with changing workload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• Scalability</a:t>
            </a:r>
            <a:r>
              <a:rPr sz="1600" b="0">
                <a:solidFill>
                  <a:srgbClr val="4A5A66"/>
                </a:solidFill>
                <a:latin typeface="Calibri"/>
              </a:rPr>
              <a:t> — Handle growth — vertical (bigger) or horizontal (more instances)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• API</a:t>
            </a:r>
            <a:r>
              <a:rPr sz="1600" b="0">
                <a:solidFill>
                  <a:srgbClr val="4A5A66"/>
                </a:solidFill>
                <a:latin typeface="Calibri"/>
              </a:rPr>
              <a:t> — Programmatic interface to create, configure, monitor cloud resources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• SLA</a:t>
            </a:r>
            <a:r>
              <a:rPr sz="1600" b="0">
                <a:solidFill>
                  <a:srgbClr val="4A5A66"/>
                </a:solidFill>
                <a:latin typeface="Calibri"/>
              </a:rPr>
              <a:t> — Service Level Agreement — availability promises (e.g. 99.9%)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• CapEx → OpEx</a:t>
            </a:r>
            <a:r>
              <a:rPr sz="1600" b="0">
                <a:solidFill>
                  <a:srgbClr val="4A5A66"/>
                </a:solidFill>
                <a:latin typeface="Calibri"/>
              </a:rPr>
              <a:t> — Cloud shifts upfront capital spend to ongoing operational spend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Introduction to Cloud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E748A"/>
                </a:solidFill>
                <a:latin typeface="Calibri"/>
              </a:rPr>
              <a:t>Delivery of computing as a networked service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Cloud Computing – I (CC-I)  |  05201289  |  Unit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7 / 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Delivery of servers, storage, databases, networking, software, analytics &amp; AI over a network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User consumes capability from a provider — does not own full infrastructure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Pricing: pay-as-you-go, subscription, reserved capacity, free-tier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Simple view: use someone else’s well-managed infrastructure via the internet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Exam-ready answer adds: on-demand, shared pool, rapid provision, elasticity, measured usage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“As a Service”: IaaS (infra) → PaaS (platform) → SaaS (complete app)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Front end (client) + network + back end (provider systems) = basic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NIST Definition of Cloud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E748A"/>
                </a:solidFill>
                <a:latin typeface="Calibri"/>
              </a:rPr>
              <a:t>Memorize this — every phrase matters in exams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Cloud Computing – I (CC-I)  |  05201289  |  Unit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8 / 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11247120" cy="201168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08760"/>
            <a:ext cx="10881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Cloud computing is a model for enabling ubiquitous, convenient, on-demand network access to a shared pool of configurable computing resources (networks, servers, storage, applications and services) that can be rapidly provisioned and released with minimal management effort or service provider interaction.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657600"/>
            <a:ext cx="2194560" cy="228600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3657600"/>
            <a:ext cx="2194560" cy="41148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703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Ubiquitous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206240"/>
            <a:ext cx="2011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Available almost anywhere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3657600"/>
            <a:ext cx="2194560" cy="228600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0" y="3657600"/>
            <a:ext cx="2194560" cy="41148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4640" y="3703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Convenient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4206240"/>
            <a:ext cx="2011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Easy via browser / API / CLI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74920" y="3657600"/>
            <a:ext cx="2194560" cy="228600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74920" y="3657600"/>
            <a:ext cx="2194560" cy="41148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59" y="3703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On-demand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59" y="4206240"/>
            <a:ext cx="2011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Request when needed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6640" y="3657600"/>
            <a:ext cx="2194560" cy="228600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06640" y="3657600"/>
            <a:ext cx="2194560" cy="41148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79" y="3703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Shared pool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4206240"/>
            <a:ext cx="2011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Pooled capacity, isolated tenants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38359" y="3657600"/>
            <a:ext cx="2194560" cy="228600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38359" y="3657600"/>
            <a:ext cx="2194560" cy="41148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29799" y="3703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Rapid provision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799" y="4206240"/>
            <a:ext cx="2011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Create &amp; release quickly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Need for Cloud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E748A"/>
                </a:solidFill>
                <a:latin typeface="Calibri"/>
              </a:rPr>
              <a:t>Why organizations and students adopt cloud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Cloud Computing – I (CC-I)  |  05201289  |  Unit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9 / 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71600"/>
            <a:ext cx="3657600" cy="475488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371600"/>
            <a:ext cx="73152" cy="475488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4630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48A"/>
                </a:solidFill>
                <a:latin typeface="Calibri"/>
              </a:rPr>
              <a:t>Traditional Pain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783080"/>
            <a:ext cx="34290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Overbuying for peak load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Servers idle most of the time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Hardware maintenance burden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Patching &amp; capacity planning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Slow procurement cycles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High CapEx before any value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371600"/>
            <a:ext cx="3657600" cy="475488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371600"/>
            <a:ext cx="73152" cy="475488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4630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48A"/>
                </a:solidFill>
                <a:latin typeface="Calibri"/>
              </a:rPr>
              <a:t>Cloud Answers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783080"/>
            <a:ext cx="34290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Start small, grow with demand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Pay for what you use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Provider manages infra ops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Minutes to provision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Global regions &amp; CDNs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Access to advanced services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2440" y="1371600"/>
            <a:ext cx="3657600" cy="475488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371600"/>
            <a:ext cx="73152" cy="475488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4630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48A"/>
                </a:solidFill>
                <a:latin typeface="Calibri"/>
              </a:rPr>
              <a:t>Who Benefits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783080"/>
            <a:ext cx="34290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Students &amp; startups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Remote education &amp; work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E-commerce &amp; streaming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Banks (often hybrid)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Hospitals &amp; government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Developers experimenting fast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Clearing Common Confusions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E748A"/>
                </a:solidFill>
                <a:latin typeface="Calibri"/>
              </a:rPr>
              <a:t>Cloud ≠ Internet ≠ Outsourcing ≠ Storage only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Cloud Computing – I (CC-I)  |  05201289  |  Unit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10 / 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• Cloud vs Internet</a:t>
            </a:r>
            <a:r>
              <a:rPr sz="1500" b="0">
                <a:solidFill>
                  <a:srgbClr val="4A5A66"/>
                </a:solidFill>
                <a:latin typeface="Calibri"/>
              </a:rPr>
              <a:t> — Internet = global network connecting devices. Cloud = service model that uses the network to deliver compute, storage and apps.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• Cloud vs Outsourcing</a:t>
            </a:r>
            <a:r>
              <a:rPr sz="1500" b="0">
                <a:solidFill>
                  <a:srgbClr val="4A5A66"/>
                </a:solidFill>
                <a:latin typeface="Calibri"/>
              </a:rPr>
              <a:t> — Outsourcing hands a business function to another company. Cloud is standardized, scalable, measurable, on-demand service delivery.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• Cloud Computing vs Storage</a:t>
            </a:r>
            <a:r>
              <a:rPr sz="1500" b="0">
                <a:solidFill>
                  <a:srgbClr val="4A5A66"/>
                </a:solidFill>
                <a:latin typeface="Calibri"/>
              </a:rPr>
              <a:t> — Storage keeps files remotely. Computing also delivers CPU, databases, platforms, AI and full applications.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• Scalability vs Elasticity</a:t>
            </a:r>
            <a:r>
              <a:rPr sz="1500" b="0">
                <a:solidFill>
                  <a:srgbClr val="4A5A66"/>
                </a:solidFill>
                <a:latin typeface="Calibri"/>
              </a:rPr>
              <a:t> — Scalability = ability to grow. Elasticity = rapid (often automatic) scale out and scale in with demand.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History &amp; Evolution —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E748A"/>
                </a:solidFill>
                <a:latin typeface="Calibri"/>
              </a:rPr>
              <a:t>Cloud evolved; it was not a sudden invention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Cloud Computing – I (CC-I)  |  05201289  |  Unit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11 / 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11680"/>
            <a:ext cx="1828800" cy="292608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011680"/>
            <a:ext cx="1828800" cy="50292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1950s–60s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34640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2C4A"/>
                </a:solidFill>
                <a:latin typeface="Calibri"/>
              </a:rPr>
              <a:t>Mainframes &amp;
Time-sharing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1720" y="2011680"/>
            <a:ext cx="1828800" cy="292608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31720" y="2011680"/>
            <a:ext cx="1828800" cy="50292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1970s–80s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2834640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2C4A"/>
                </a:solidFill>
                <a:latin typeface="Calibri"/>
              </a:rPr>
              <a:t>Networking &amp;
Client–Server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2011680"/>
            <a:ext cx="1828800" cy="292608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2011680"/>
            <a:ext cx="1828800" cy="50292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1990s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834640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2C4A"/>
                </a:solidFill>
                <a:latin typeface="Calibri"/>
              </a:rPr>
              <a:t>Virtualization &amp;
Web / SOA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2011680"/>
            <a:ext cx="1828800" cy="292608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2011680"/>
            <a:ext cx="1828800" cy="50292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Late 90s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79" y="2834640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2C4A"/>
                </a:solidFill>
                <a:latin typeface="Calibri"/>
              </a:rPr>
              <a:t>ASP / SaaS
(Salesforce)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2011680"/>
            <a:ext cx="1828800" cy="292608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2011680"/>
            <a:ext cx="1828800" cy="50292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Mid 2000s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2834640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2C4A"/>
                </a:solidFill>
                <a:latin typeface="Calibri"/>
              </a:rPr>
              <a:t>AWS / Azure /
Google Cloud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95560" y="2011680"/>
            <a:ext cx="1828800" cy="292608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195560" y="2011680"/>
            <a:ext cx="1828800" cy="50292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9556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Today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87000" y="2834640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2C4A"/>
                </a:solidFill>
                <a:latin typeface="Calibri"/>
              </a:rPr>
              <a:t>Hybrid, AI,
Serverless, Edge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2120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5A66"/>
                </a:solidFill>
                <a:latin typeface="Calibri"/>
              </a:rPr>
              <a:t>Useful chain: Mainframe → Cluster → Grid → Cloud  |  Ideas reused: sharing, remote access, distribution, utility pricing, APIs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Mainframes &amp; Time-Sharing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E748A"/>
                </a:solidFill>
                <a:latin typeface="Calibri"/>
              </a:rPr>
              <a:t>Roots of shared, remote computing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Cloud Computing – I (CC-I)  |  05201289  |  Unit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12 / 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71600"/>
            <a:ext cx="5486400" cy="475488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371600"/>
            <a:ext cx="73152" cy="475488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4630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48A"/>
                </a:solidFill>
                <a:latin typeface="Calibri"/>
              </a:rPr>
              <a:t>Mainframe Era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783080"/>
            <a:ext cx="52578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Large, expensive central machines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Universities, govt, big firms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Users accessed via terminals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Terminals = access points, not PCs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Centralized power consumed remotely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Resembles cloud: remote shared use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But: not self-service or internet-scale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371600"/>
            <a:ext cx="5486400" cy="475488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371600"/>
            <a:ext cx="73152" cy="475488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4630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48A"/>
                </a:solidFill>
                <a:latin typeface="Calibri"/>
              </a:rPr>
              <a:t>Time-Sharing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783080"/>
            <a:ext cx="52578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Many users on one system at once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Each gets a slice of CPU time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Feels interactive to each user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Expensive resources shared efficiently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Foundation of resource pooling idea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Key lesson: share → higher utilization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Cloud later adds automation &amp; metering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Networking, Client–Server &amp; Virtualization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E748A"/>
                </a:solidFill>
                <a:latin typeface="Calibri"/>
              </a:rPr>
              <a:t>Three enabling stages before modern cloud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Cloud Computing – I (CC-I)  |  05201289  |  Unit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13 / 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371600"/>
            <a:ext cx="3749039" cy="475488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371600"/>
            <a:ext cx="73152" cy="475488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46304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48A"/>
                </a:solidFill>
                <a:latin typeface="Calibri"/>
              </a:rPr>
              <a:t>Networking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783080"/>
            <a:ext cx="3520439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ARPANET → TCP/IP → Internet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Remote access becomes practical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Cloud is useless without network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Today: VPC, DNS, CDN, VPN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Latency &amp; reliability matter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371600"/>
            <a:ext cx="3749039" cy="475488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371600"/>
            <a:ext cx="73152" cy="475488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46304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48A"/>
                </a:solidFill>
                <a:latin typeface="Calibri"/>
              </a:rPr>
              <a:t>Client–Server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783080"/>
            <a:ext cx="3520439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Clients request; servers respond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Web, email, DB, files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Split: UI vs server logic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Still the pattern of cloud apps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Server side now highly distributed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371600"/>
            <a:ext cx="3657600" cy="475488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371600"/>
            <a:ext cx="73152" cy="475488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4630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48A"/>
                </a:solidFill>
                <a:latin typeface="Calibri"/>
              </a:rPr>
              <a:t>Virtualization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783080"/>
            <a:ext cx="34290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One host → many VMs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Better hardware utilization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Isolation between workloads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Core of IaaS flexibility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Create / move / resize VMs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Cluster, Grid &amp; Utility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E748A"/>
                </a:solidFill>
                <a:latin typeface="Calibri"/>
              </a:rPr>
              <a:t>From performance clusters to pay-as-you-go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Cloud Computing – I (CC-I)  |  05201289  |  Unit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14 / 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371600"/>
            <a:ext cx="3749039" cy="475488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371600"/>
            <a:ext cx="73152" cy="475488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46304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48A"/>
                </a:solidFill>
                <a:latin typeface="Calibri"/>
              </a:rPr>
              <a:t>Cluster Computing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783080"/>
            <a:ext cx="3520439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Many machines act as one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Performance &amp; availability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Usually one org’s control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Still used inside cloud DCs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Not cloud alone (no self-service)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371600"/>
            <a:ext cx="3749039" cy="475488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371600"/>
            <a:ext cx="73152" cy="475488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46304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48A"/>
                </a:solidFill>
                <a:latin typeface="Calibri"/>
              </a:rPr>
              <a:t>Grid Computing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783080"/>
            <a:ext cx="3520439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Geo-distributed resources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Multi-domain collaboration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Science, weather, big compute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Closer to cloud sharing idea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Less commercial / self-service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371600"/>
            <a:ext cx="3657600" cy="475488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371600"/>
            <a:ext cx="73152" cy="475488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4630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48A"/>
                </a:solidFill>
                <a:latin typeface="Calibri"/>
              </a:rPr>
              <a:t>Utility Computing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783080"/>
            <a:ext cx="34290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Computing like electricity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Pay for consumption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Influenced cloud pricing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Pay-as-you-go is the modern form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CapEx → usage-based OpEx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SOA, Web Era &amp; Public Cloud 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E748A"/>
                </a:solidFill>
                <a:latin typeface="Calibri"/>
              </a:rPr>
              <a:t>Five enabling technologies + commercial cloud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Cloud Computing – I (CC-I)  |  05201289  |  Unit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15 / 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371600"/>
            <a:ext cx="11155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• SOA &amp; Web Services</a:t>
            </a:r>
            <a:r>
              <a:rPr sz="1500" b="0">
                <a:solidFill>
                  <a:srgbClr val="4A5A66"/>
                </a:solidFill>
                <a:latin typeface="Calibri"/>
              </a:rPr>
              <a:t> — Apps as services with standard interfaces; REST APIs &amp; microservices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• 1990s Web</a:t>
            </a:r>
            <a:r>
              <a:rPr sz="1500" b="0">
                <a:solidFill>
                  <a:srgbClr val="4A5A66"/>
                </a:solidFill>
                <a:latin typeface="Calibri"/>
              </a:rPr>
              <a:t> — Browsers made remote apps normal — email, search, e-commerce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• SaaS proof</a:t>
            </a:r>
            <a:r>
              <a:rPr sz="1500" b="0">
                <a:solidFill>
                  <a:srgbClr val="4A5A66"/>
                </a:solidFill>
                <a:latin typeface="Calibri"/>
              </a:rPr>
              <a:t> — Salesforce (1999) sold business software as subscription over internet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• Public cloud</a:t>
            </a:r>
            <a:r>
              <a:rPr sz="1500" b="0">
                <a:solidFill>
                  <a:srgbClr val="4A5A66"/>
                </a:solidFill>
                <a:latin typeface="Calibri"/>
              </a:rPr>
              <a:t> — AWS S3 &amp; EC2 (mid-2000s); then Azure &amp; Google Cloud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931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748A"/>
                </a:solidFill>
                <a:latin typeface="Calibri"/>
              </a:rPr>
              <a:t>Five enabling technologies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389120"/>
            <a:ext cx="2148840" cy="137160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75488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2C4A"/>
                </a:solidFill>
                <a:latin typeface="Calibri"/>
              </a:rPr>
              <a:t>1. Networking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4389120"/>
            <a:ext cx="2148840" cy="137160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475488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2C4A"/>
                </a:solidFill>
                <a:latin typeface="Calibri"/>
              </a:rPr>
              <a:t>2. Virtualization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74920" y="4389120"/>
            <a:ext cx="2148840" cy="137160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6360" y="475488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2C4A"/>
                </a:solidFill>
                <a:latin typeface="Calibri"/>
              </a:rPr>
              <a:t>3. Distributed computing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60920" y="4389120"/>
            <a:ext cx="2148840" cy="137160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60" y="475488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2C4A"/>
                </a:solidFill>
                <a:latin typeface="Calibri"/>
              </a:rPr>
              <a:t>4. SOA / Web APIs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46920" y="4389120"/>
            <a:ext cx="2148840" cy="137160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60" y="475488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2C4A"/>
                </a:solidFill>
                <a:latin typeface="Calibri"/>
              </a:rPr>
              <a:t>5. Automation &amp; metering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NIST Essential Characteristics —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E748A"/>
                </a:solidFill>
                <a:latin typeface="Calibri"/>
              </a:rPr>
              <a:t>Mnemonic: OBRUM  |  Write these five first in exams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Cloud Computing – I (CC-I)  |  05201289  |  Unit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16 / 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54480"/>
            <a:ext cx="2194560" cy="420624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554480"/>
            <a:ext cx="2194560" cy="91440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6916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08C2E"/>
                </a:solidFill>
                <a:latin typeface="Calibri"/>
              </a:rPr>
              <a:t>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5176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B2C4A"/>
                </a:solidFill>
                <a:latin typeface="Calibri"/>
              </a:rPr>
              <a:t>On-demand
Self-Service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1480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5A66"/>
                </a:solidFill>
                <a:latin typeface="Calibri"/>
              </a:rPr>
              <a:t>Provision without human help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79" y="1554480"/>
            <a:ext cx="2194560" cy="420624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97479" y="1554480"/>
            <a:ext cx="2194560" cy="91440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7479" y="16916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08C2E"/>
                </a:solidFill>
                <a:latin typeface="Calibri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265176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B2C4A"/>
                </a:solidFill>
                <a:latin typeface="Calibri"/>
              </a:rPr>
              <a:t>Broad Network
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411480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5A66"/>
                </a:solidFill>
                <a:latin typeface="Calibri"/>
              </a:rPr>
              <a:t>Reach via standard clients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1554480"/>
            <a:ext cx="2194560" cy="420624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1554480"/>
            <a:ext cx="2194560" cy="91440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16916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08C2E"/>
                </a:solidFill>
                <a:latin typeface="Calibri"/>
              </a:rPr>
              <a:t>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265176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B2C4A"/>
                </a:solidFill>
                <a:latin typeface="Calibri"/>
              </a:rPr>
              <a:t>Resource
Pooling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411480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5A66"/>
                </a:solidFill>
                <a:latin typeface="Calibri"/>
              </a:rPr>
              <a:t>Multi-tenant shared capacity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60919" y="1554480"/>
            <a:ext cx="2194560" cy="420624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60919" y="1554480"/>
            <a:ext cx="2194560" cy="91440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60919" y="16916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08C2E"/>
                </a:solidFill>
                <a:latin typeface="Calibri"/>
              </a:rPr>
              <a:t>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59" y="265176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B2C4A"/>
                </a:solidFill>
                <a:latin typeface="Calibri"/>
              </a:rPr>
              <a:t>Rapid
Elasticity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59" y="411480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5A66"/>
                </a:solidFill>
                <a:latin typeface="Calibri"/>
              </a:rPr>
              <a:t>Scale up &amp; down quickly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92640" y="1554480"/>
            <a:ext cx="2194560" cy="420624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92640" y="1554480"/>
            <a:ext cx="2194560" cy="91440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640" y="16916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08C2E"/>
                </a:solidFill>
                <a:latin typeface="Calibri"/>
              </a:rPr>
              <a:t>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265176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B2C4A"/>
                </a:solidFill>
                <a:latin typeface="Calibri"/>
              </a:rPr>
              <a:t>Measured
Service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411480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5A66"/>
                </a:solidFill>
                <a:latin typeface="Calibri"/>
              </a:rPr>
              <a:t>Meter, report &amp; bill usage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On-Demand Self-Service &amp; Broad Network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E748A"/>
                </a:solidFill>
                <a:latin typeface="Calibri"/>
              </a:rPr>
              <a:t>OBRUM — letters O and B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Cloud Computing – I (CC-I)  |  05201289  |  Unit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17 / 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71600"/>
            <a:ext cx="5577840" cy="475488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371600"/>
            <a:ext cx="73152" cy="475488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4630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48A"/>
                </a:solidFill>
                <a:latin typeface="Calibri"/>
              </a:rPr>
              <a:t>On-Demand Self-Service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783080"/>
            <a:ext cx="53492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User provisions when needed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No waiting for provider staff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Console, CLI or API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Example: create VM / DB in minutes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Supports agile experiments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Provider may still enforce quotas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Key benefit: speed + independence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5486400" cy="475488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73152" cy="475488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4630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48A"/>
                </a:solidFill>
                <a:latin typeface="Calibri"/>
              </a:rPr>
              <a:t>Broad Network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783080"/>
            <a:ext cx="52578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Available over the network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Standard mechanisms &amp; protocols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Laptops, phones, tablets, desktops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Not “anyone can see private data”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Authorized users, many devices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Supports remote work &amp; mobility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Example: Drive from phone or PC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Resource Pooling, Elasticity &amp; Measured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E748A"/>
                </a:solidFill>
                <a:latin typeface="Calibri"/>
              </a:rPr>
              <a:t>OBRUM — letters R, U and 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Cloud Computing – I (CC-I)  |  05201289  |  Unit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18 / 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371600"/>
            <a:ext cx="3794760" cy="475488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371600"/>
            <a:ext cx="73152" cy="475488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46304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48A"/>
                </a:solidFill>
                <a:latin typeface="Calibri"/>
              </a:rPr>
              <a:t>Resource Pooling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783080"/>
            <a:ext cx="35661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Shared multi-tenant pool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Dynamic assign / reassign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Location may be region/zone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Exact host usually hidden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Higher utilization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Needs strong isolation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371600"/>
            <a:ext cx="3794760" cy="475488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1371600"/>
            <a:ext cx="73152" cy="475488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46304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48A"/>
                </a:solidFill>
                <a:latin typeface="Calibri"/>
              </a:rPr>
              <a:t>Rapid Elasticity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1783080"/>
            <a:ext cx="35661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Scale out and scale in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Often automatic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Appears almost unlimited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Sale / event / deadline peaks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Release capacity after surge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Avoid permanently overbuying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2440" y="1371600"/>
            <a:ext cx="3749039" cy="475488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371600"/>
            <a:ext cx="73152" cy="475488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46304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48A"/>
                </a:solidFill>
                <a:latin typeface="Calibri"/>
              </a:rPr>
              <a:t>Measured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783080"/>
            <a:ext cx="3520439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Automatic metering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Monitor, control, report, bill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VM hours, storage, bandwidth,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API calls, DB ops, seats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Enables pay-as-you-go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Supports cost optimization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Pros / Advantages of Cloud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E748A"/>
                </a:solidFill>
                <a:latin typeface="Calibri"/>
              </a:rPr>
              <a:t>Why cloud is widely adopted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Cloud Computing – I (CC-I)  |  05201289  |  Unit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19 / 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Reduced upfront / CapEx cost — start small, pay as you grow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Scalability — grow compute, storage, DB with workload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Elasticity — auto add/remove capacity for variable traffic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Faster deployment — minutes for test / staging / production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Accessibility — multi-device, multi-location collaboration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Reliability options — regions, zones, replication, DR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Access to advanced tech — ML, analytics, serverless, CDN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Managed updates (esp. SaaS/PaaS) — less maintenance burden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Flexible disaster recovery without a second owned site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Cons / Disadvantages of Cloud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E748A"/>
                </a:solidFill>
                <a:latin typeface="Calibri"/>
              </a:rPr>
              <a:t>Plan, secure, and govern — cloud is not magic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Cloud Computing – I (CC-I)  |  05201289  |  Unit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20 / 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Network dependency — outages or slow links block access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Security &amp; privacy — shared responsibility; misconfig hurts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Vendor lock-in — proprietary services raise exit cost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Cost unpredictability — idle VMs / transfer / large storage bills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Provider downtime can affect many customers at once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Compliance &amp; data residency — health, banking, government rules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Limited control in SaaS/PaaS — convenience vs customization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Performance variability — multi-tenancy &amp; latency effects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48A"/>
                </a:solidFill>
                <a:latin typeface="Calibri"/>
              </a:rPr>
              <a:t>Exam tip: Always balance advantages with disadvantages and mention governance.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Nature of Cloud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E748A"/>
                </a:solidFill>
                <a:latin typeface="Calibri"/>
              </a:rPr>
              <a:t>Overall identity beyond the NIST five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Cloud Computing – I (CC-I)  |  05201289  |  Unit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21 / 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3749039" cy="150876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325880"/>
            <a:ext cx="73152" cy="150876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41732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48A"/>
                </a:solidFill>
                <a:latin typeface="Calibri"/>
              </a:rPr>
              <a:t>Service-oriented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737360"/>
            <a:ext cx="35204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Consume capabilities as services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325880"/>
            <a:ext cx="3749039" cy="150876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325880"/>
            <a:ext cx="73152" cy="150876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41732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48A"/>
                </a:solidFill>
                <a:latin typeface="Calibri"/>
              </a:rPr>
              <a:t>Network-based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737360"/>
            <a:ext cx="35204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Access via internet / VPN / private links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325880"/>
            <a:ext cx="3749039" cy="150876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325880"/>
            <a:ext cx="73152" cy="150876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41732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48A"/>
                </a:solidFill>
                <a:latin typeface="Calibri"/>
              </a:rPr>
              <a:t>Virtualized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737360"/>
            <a:ext cx="35204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Logical resources abstract physical hardware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971800"/>
            <a:ext cx="3749039" cy="150876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2971800"/>
            <a:ext cx="73152" cy="150876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06324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48A"/>
                </a:solidFill>
                <a:latin typeface="Calibri"/>
              </a:rPr>
              <a:t>Distributed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383280"/>
            <a:ext cx="35204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Many servers, zones, regions behind one app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60" y="2971800"/>
            <a:ext cx="3749039" cy="150876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51960" y="2971800"/>
            <a:ext cx="73152" cy="150876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306324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48A"/>
                </a:solidFill>
                <a:latin typeface="Calibri"/>
              </a:rPr>
              <a:t>Scalable &amp; Elastic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3383280"/>
            <a:ext cx="35204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Grow, and rapidly adjust both ways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2971800"/>
            <a:ext cx="3749039" cy="150876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2971800"/>
            <a:ext cx="73152" cy="150876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306324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48A"/>
                </a:solidFill>
                <a:latin typeface="Calibri"/>
              </a:rPr>
              <a:t>Shared / Multi-tenant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3383280"/>
            <a:ext cx="35204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Common platforms with isolation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617720"/>
            <a:ext cx="3749039" cy="150876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4617720"/>
            <a:ext cx="73152" cy="150876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70916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48A"/>
                </a:solidFill>
                <a:latin typeface="Calibri"/>
              </a:rPr>
              <a:t>Automated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5029200"/>
            <a:ext cx="35204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Provision, scale, patch, bill by software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51960" y="4617720"/>
            <a:ext cx="3749039" cy="150876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51960" y="4617720"/>
            <a:ext cx="73152" cy="150876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34840" y="470916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48A"/>
                </a:solidFill>
                <a:latin typeface="Calibri"/>
              </a:rPr>
              <a:t>Measurable &amp; SLA-driven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0" y="5029200"/>
            <a:ext cx="35204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Metered usage + service promises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38160" y="4617720"/>
            <a:ext cx="3749039" cy="150876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38160" y="4617720"/>
            <a:ext cx="73152" cy="150876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21040" y="470916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48A"/>
                </a:solidFill>
                <a:latin typeface="Calibri"/>
              </a:rPr>
              <a:t>Abstract &amp; Dynamic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20" y="5029200"/>
            <a:ext cx="35204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Hide hardware; create / resize / delete freely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Technologies in Cloud Computing —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E748A"/>
                </a:solidFill>
                <a:latin typeface="Calibri"/>
              </a:rPr>
              <a:t>Cloud is many technologies working together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Cloud Computing – I (CC-I)  |  05201289  |  Unit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22 / 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17320"/>
            <a:ext cx="2788920" cy="132588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417320"/>
            <a:ext cx="109728" cy="132588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7830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C4A"/>
                </a:solidFill>
                <a:latin typeface="Calibri"/>
              </a:rPr>
              <a:t>Virtualization &amp; hypervisors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417320"/>
            <a:ext cx="2788920" cy="132588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417320"/>
            <a:ext cx="109728" cy="132588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17830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C4A"/>
                </a:solidFill>
                <a:latin typeface="Calibri"/>
              </a:rPr>
              <a:t>Distributed computing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417320"/>
            <a:ext cx="2788920" cy="132588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417320"/>
            <a:ext cx="109728" cy="132588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7830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C4A"/>
                </a:solidFill>
                <a:latin typeface="Calibri"/>
              </a:rPr>
              <a:t>Networking (VPC, DNS, VPN, CDN)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1417320"/>
            <a:ext cx="2788920" cy="132588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1417320"/>
            <a:ext cx="109728" cy="132588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7830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C4A"/>
                </a:solidFill>
                <a:latin typeface="Calibri"/>
              </a:rPr>
              <a:t>Load balancing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971800"/>
            <a:ext cx="2788920" cy="132588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2971800"/>
            <a:ext cx="109728" cy="132588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3375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C4A"/>
                </a:solidFill>
                <a:latin typeface="Calibri"/>
              </a:rPr>
              <a:t>SOA, web services &amp; APIs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2971800"/>
            <a:ext cx="2788920" cy="132588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91840" y="2971800"/>
            <a:ext cx="109728" cy="132588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0" y="33375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C4A"/>
                </a:solidFill>
                <a:latin typeface="Calibri"/>
              </a:rPr>
              <a:t>Containers &amp; orchestration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2971800"/>
            <a:ext cx="2788920" cy="132588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2971800"/>
            <a:ext cx="109728" cy="132588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3375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C4A"/>
                </a:solidFill>
                <a:latin typeface="Calibri"/>
              </a:rPr>
              <a:t>Automation &amp; Infrastructure as Code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2971800"/>
            <a:ext cx="2788920" cy="132588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44000" y="2971800"/>
            <a:ext cx="109728" cy="132588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33375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C4A"/>
                </a:solidFill>
                <a:latin typeface="Calibri"/>
              </a:rPr>
              <a:t>Storage (object / block / file / DB)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526280"/>
            <a:ext cx="2788920" cy="132588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4526280"/>
            <a:ext cx="109728" cy="132588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8920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C4A"/>
                </a:solidFill>
                <a:latin typeface="Calibri"/>
              </a:rPr>
              <a:t>Data center technologies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91840" y="4526280"/>
            <a:ext cx="2788920" cy="132588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91840" y="4526280"/>
            <a:ext cx="109728" cy="132588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66160" y="48920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C4A"/>
                </a:solidFill>
                <a:latin typeface="Calibri"/>
              </a:rPr>
              <a:t>Security &amp; IAM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4526280"/>
            <a:ext cx="2788920" cy="132588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4526280"/>
            <a:ext cx="109728" cy="132588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48920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C4A"/>
                </a:solidFill>
                <a:latin typeface="Calibri"/>
              </a:rPr>
              <a:t>Monitoring, logging &amp; metering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00" y="4526280"/>
            <a:ext cx="2788920" cy="132588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144000" y="4526280"/>
            <a:ext cx="109728" cy="132588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18320" y="48920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C4A"/>
                </a:solidFill>
                <a:latin typeface="Calibri"/>
              </a:rPr>
              <a:t>Serverless &amp; AI / analytics services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Core Technologies (Detail)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E748A"/>
                </a:solidFill>
                <a:latin typeface="Calibri"/>
              </a:rPr>
              <a:t>Virtualization, distribution, networking, load balancing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Cloud Computing – I (CC-I)  |  05201289  |  Unit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23 / 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371600"/>
            <a:ext cx="5669280" cy="228600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371600"/>
            <a:ext cx="73152" cy="228600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4630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48A"/>
                </a:solidFill>
                <a:latin typeface="Calibri"/>
              </a:rPr>
              <a:t>Virtualization + Hypervisor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783080"/>
            <a:ext cx="54406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Split physical host into VMs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Flexible rentable units for IaaS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Isolation between customers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Snapshot, migrate, resize VMs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371600"/>
            <a:ext cx="5577840" cy="228600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371600"/>
            <a:ext cx="73152" cy="228600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4630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48A"/>
                </a:solidFill>
                <a:latin typeface="Calibri"/>
              </a:rPr>
              <a:t>Distributed Computing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783080"/>
            <a:ext cx="53492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Services span many machines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Replicated storage &amp; DBs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Work split across nodes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Scale + fault tolerance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840480"/>
            <a:ext cx="5669280" cy="228600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840480"/>
            <a:ext cx="73152" cy="228600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9319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48A"/>
                </a:solidFill>
                <a:latin typeface="Calibri"/>
              </a:rPr>
              <a:t>Networking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251960"/>
            <a:ext cx="54406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IP, DNS, VPC, subnets, routes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Firewalls, security groups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VPN / private connectivity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Connectivity + isolation + security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840480"/>
            <a:ext cx="5577840" cy="228600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3840480"/>
            <a:ext cx="73152" cy="228600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9319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48A"/>
                </a:solidFill>
                <a:latin typeface="Calibri"/>
              </a:rPr>
              <a:t>Load Balancing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251960"/>
            <a:ext cx="53492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Spread traffic across instances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Avoid single-server overload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Remove unhealthy targets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Enables horizontal scaling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Containers, Orchestration, Automation &amp;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E748A"/>
                </a:solidFill>
                <a:latin typeface="Calibri"/>
              </a:rPr>
              <a:t>Cloud-native building blocks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Cloud Computing – I (CC-I)  |  05201289  |  Unit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24 / 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371600"/>
            <a:ext cx="5669280" cy="228600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371600"/>
            <a:ext cx="73152" cy="228600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4630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48A"/>
                </a:solidFill>
                <a:latin typeface="Calibri"/>
              </a:rPr>
              <a:t>Containers &amp; Orchestration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783080"/>
            <a:ext cx="54406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App + dependencies packaged lightly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Docker popularized containers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Kubernetes: schedule, scale, heal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Key for microservices &amp; DevOps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371600"/>
            <a:ext cx="5577840" cy="228600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371600"/>
            <a:ext cx="73152" cy="228600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4630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48A"/>
                </a:solidFill>
                <a:latin typeface="Calibri"/>
              </a:rPr>
              <a:t>Automation / IaC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783080"/>
            <a:ext cx="53492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Auto provision, patch, scale, backup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Terraform, CloudFormation, Bicep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Repeatable environments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Self-service at large scale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840480"/>
            <a:ext cx="5669280" cy="228600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840480"/>
            <a:ext cx="73152" cy="228600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9319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48A"/>
                </a:solidFill>
                <a:latin typeface="Calibri"/>
              </a:rPr>
              <a:t>Storage Types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251960"/>
            <a:ext cx="54406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Object: buckets (media, backups)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Block: VM disks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File: shared file systems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Databases: structured data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840480"/>
            <a:ext cx="5577840" cy="228600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3840480"/>
            <a:ext cx="73152" cy="228600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9319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48A"/>
                </a:solidFill>
                <a:latin typeface="Calibri"/>
              </a:rPr>
              <a:t>Choose Storage By…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251960"/>
            <a:ext cx="53492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Access pattern &amp; latency needs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Durability &amp; replication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Cost vs performance class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Consistency &amp; backup needs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Security, Monitoring, CDN, Serverless &amp;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E748A"/>
                </a:solidFill>
                <a:latin typeface="Calibri"/>
              </a:rPr>
              <a:t>Protect, observe, accelerate, innovate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Cloud Computing – I (CC-I)  |  05201289  |  Unit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25 / 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• Security</a:t>
            </a:r>
            <a:r>
              <a:rPr sz="1500" b="0">
                <a:solidFill>
                  <a:srgbClr val="4A5A66"/>
                </a:solidFill>
                <a:latin typeface="Calibri"/>
              </a:rPr>
              <a:t> — IAM, encryption, keys, firewalls, MFA, logging, compliance tools — shared responsibility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• Monitoring</a:t>
            </a:r>
            <a:r>
              <a:rPr sz="1500" b="0">
                <a:solidFill>
                  <a:srgbClr val="4A5A66"/>
                </a:solidFill>
                <a:latin typeface="Calibri"/>
              </a:rPr>
              <a:t> — Metrics, logs, traces — CPU, latency, errors; alerts &amp; auto actions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• Metering / Billing</a:t>
            </a:r>
            <a:r>
              <a:rPr sz="1500" b="0">
                <a:solidFill>
                  <a:srgbClr val="4A5A66"/>
                </a:solidFill>
                <a:latin typeface="Calibri"/>
              </a:rPr>
              <a:t> — Track VM hours, storage, transfer, API calls for fair billing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• CDN</a:t>
            </a:r>
            <a:r>
              <a:rPr sz="1500" b="0">
                <a:solidFill>
                  <a:srgbClr val="4A5A66"/>
                </a:solidFill>
                <a:latin typeface="Calibri"/>
              </a:rPr>
              <a:t> — Cache content at edge locations — lower latency for global users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• Serverless</a:t>
            </a:r>
            <a:r>
              <a:rPr sz="1500" b="0">
                <a:solidFill>
                  <a:srgbClr val="4A5A66"/>
                </a:solidFill>
                <a:latin typeface="Calibri"/>
              </a:rPr>
              <a:t> — Run code on events; no server management (servers still exist behind the scenes)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• AI / Analytics</a:t>
            </a:r>
            <a:r>
              <a:rPr sz="1500" b="0">
                <a:solidFill>
                  <a:srgbClr val="4A5A66"/>
                </a:solidFill>
                <a:latin typeface="Calibri"/>
              </a:rPr>
              <a:t> — ML platforms, data warehouses, GPUs, generative AI as managed services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Working of Cloud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E748A"/>
                </a:solidFill>
                <a:latin typeface="Calibri"/>
              </a:rPr>
              <a:t>Front end → Network → Back 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Cloud Computing – I (CC-I)  |  05201289  |  Unit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26 / 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645920"/>
            <a:ext cx="3383280" cy="329184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645920"/>
            <a:ext cx="3383280" cy="64008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737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FRONT 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56032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Browser / Mobile
Desktop / API / CLI
User interaction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1645920"/>
            <a:ext cx="3383280" cy="329184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1645920"/>
            <a:ext cx="3383280" cy="64008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737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NETWORK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56032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Internet / VPN
Private links
Carries requests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59" y="1645920"/>
            <a:ext cx="3383280" cy="329184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59" y="1645920"/>
            <a:ext cx="3383280" cy="64008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59" y="1737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BACK 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39" y="256032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Servers, VMs, Storage
DB, Security, LB
Monitoring &amp; Billing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212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5A66"/>
                </a:solidFill>
                <a:latin typeface="Calibri"/>
              </a:rPr>
              <a:t>Example: Opening Google Drive → request authenticated &amp; authorized → routed to service → served from storage/apps → user sees a simple file UI while many systems cooperate.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Request Flow, Control Plane &amp; Auto Scaling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E748A"/>
                </a:solidFill>
                <a:latin typeface="Calibri"/>
              </a:rPr>
              <a:t>How a cloud request is processed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Cloud Computing – I (CC-I)  |  05201289  |  Unit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27 / 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32588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AuthN / AuthZ</a:t>
            </a:r>
            <a:r>
              <a:rPr sz="1400" b="0">
                <a:solidFill>
                  <a:srgbClr val="4A5A66"/>
                </a:solidFill>
                <a:latin typeface="Calibri"/>
              </a:rPr>
              <a:t> — Prove identity; then check permissions (read vs delete, create VM vs billing)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IaaS create flow</a:t>
            </a:r>
            <a:r>
              <a:rPr sz="1400" b="0">
                <a:solidFill>
                  <a:srgbClr val="4A5A66"/>
                </a:solidFill>
                <a:latin typeface="Calibri"/>
              </a:rPr>
              <a:t> — Pick image/size/region → control plane checks quota → hypervisor creates VM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Control vs Data plane</a:t>
            </a:r>
            <a:r>
              <a:rPr sz="1400" b="0">
                <a:solidFill>
                  <a:srgbClr val="4A5A66"/>
                </a:solidFill>
                <a:latin typeface="Calibri"/>
              </a:rPr>
              <a:t> — Control plane manages resources; data plane carries app traffic &amp; data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Replication</a:t>
            </a:r>
            <a:r>
              <a:rPr sz="1400" b="0">
                <a:solidFill>
                  <a:srgbClr val="4A5A66"/>
                </a:solidFill>
                <a:latin typeface="Calibri"/>
              </a:rPr>
              <a:t> — Copies across devices/locations — durability beyond one disk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Load balancer</a:t>
            </a:r>
            <a:r>
              <a:rPr sz="1400" b="0">
                <a:solidFill>
                  <a:srgbClr val="4A5A66"/>
                </a:solidFill>
                <a:latin typeface="Calibri"/>
              </a:rPr>
              <a:t> — Distributes requests; skips unhealthy instances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Auto scaling</a:t>
            </a:r>
            <a:r>
              <a:rPr sz="1400" b="0">
                <a:solidFill>
                  <a:srgbClr val="4A5A66"/>
                </a:solidFill>
                <a:latin typeface="Calibri"/>
              </a:rPr>
              <a:t> — Add/remove instances from CPU / queue / request metrics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Monitoring + Billing</a:t>
            </a:r>
            <a:r>
              <a:rPr sz="1400" b="0">
                <a:solidFill>
                  <a:srgbClr val="4A5A66"/>
                </a:solidFill>
                <a:latin typeface="Calibri"/>
              </a:rPr>
              <a:t> — Health alerts + continuous metering for cost visibility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By model</a:t>
            </a:r>
            <a:r>
              <a:rPr sz="1400" b="0">
                <a:solidFill>
                  <a:srgbClr val="4A5A66"/>
                </a:solidFill>
                <a:latin typeface="Calibri"/>
              </a:rPr>
              <a:t> — SaaS: use app | PaaS: deploy code | IaaS: manage OS &amp; apps yourself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Service Models — IaaS, PaaS, SaaS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E748A"/>
                </a:solidFill>
                <a:latin typeface="Calibri"/>
              </a:rPr>
              <a:t>SPI stack bridge overview (detail in Unit 2)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Cloud Computing – I (CC-I)  |  05201289  |  Unit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28 / 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371600"/>
            <a:ext cx="3703320" cy="475488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371600"/>
            <a:ext cx="3703320" cy="109728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463040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IaaS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96596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Infrastructure as a 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743200"/>
            <a:ext cx="3383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VMs, storage, networks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You manage OS &amp; apps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Provider: DC + hardware + virt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Ex: EC2, Azure VM, GCE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1371600"/>
            <a:ext cx="3703320" cy="475488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1371600"/>
            <a:ext cx="3703320" cy="109728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51960" y="1463040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PaaS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196596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Platform as a 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743200"/>
            <a:ext cx="3383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Ready runtime &amp; middleware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You manage code &amp; data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Provider: OS, scale, platform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Ex: App Engine, App Service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1371600"/>
            <a:ext cx="3703320" cy="475488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1371600"/>
            <a:ext cx="3703320" cy="109728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1463040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SaaS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196596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Software as a Service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743200"/>
            <a:ext cx="3383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Complete application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You manage settings &amp; data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Provider manages almost all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Ex: Gmail, 365, Salesforce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1722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48A"/>
                </a:solidFill>
                <a:latin typeface="Calibri"/>
              </a:rPr>
              <a:t>As you move IaaS → SaaS: provider responsibility ↑ and customer control ↓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Deployment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E748A"/>
                </a:solidFill>
                <a:latin typeface="Calibri"/>
              </a:rPr>
              <a:t>Where the cloud lives and who can use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Cloud Computing – I (CC-I)  |  05201289  |  Unit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29 / 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371600"/>
            <a:ext cx="2834640" cy="475488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371600"/>
            <a:ext cx="73152" cy="475488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463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48A"/>
                </a:solidFill>
                <a:latin typeface="Calibri"/>
              </a:rPr>
              <a:t>Public Cloud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783080"/>
            <a:ext cx="26060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Provider-owned, many customers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AWS, Azure, Google Cloud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Scale + low CapEx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Mind security &amp; lock-in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371600"/>
            <a:ext cx="2834640" cy="475488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1371600"/>
            <a:ext cx="73152" cy="475488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1463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08C2E"/>
                </a:solidFill>
                <a:latin typeface="Calibri"/>
              </a:rPr>
              <a:t>Private Cloud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1783080"/>
            <a:ext cx="26060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Dedicated to one organization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On-prem or hosted privately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More control &amp; isolation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Higher cost / effort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371600"/>
            <a:ext cx="2834640" cy="475488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371600"/>
            <a:ext cx="73152" cy="475488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463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48A"/>
                </a:solidFill>
                <a:latin typeface="Calibri"/>
              </a:rPr>
              <a:t>Hybrid Cloud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783080"/>
            <a:ext cx="26060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Private/on-prem + public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Sensitive stays private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Burst / innovate on public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Common in banks &amp; enterprises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1371600"/>
            <a:ext cx="2834640" cy="475488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35440" y="1371600"/>
            <a:ext cx="73152" cy="475488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1463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08C2E"/>
                </a:solidFill>
                <a:latin typeface="Calibri"/>
              </a:rPr>
              <a:t>Community Cloud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1783080"/>
            <a:ext cx="26060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Shared by similar orgs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Govt / universities / healthcare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Common compliance needs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Less common than others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1722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2C4A"/>
                </a:solidFill>
                <a:latin typeface="Calibri"/>
              </a:rPr>
              <a:t>Do not mix: Service model = WHAT is delivered | Deployment model = WHERE / for WHOM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Major Cloud Providers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E748A"/>
                </a:solidFill>
                <a:latin typeface="Calibri"/>
              </a:rPr>
              <a:t>AWS • Microsoft Azure • Google Cloud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Cloud Computing – I (CC-I)  |  05201289  |  Unit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30 / 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371600"/>
            <a:ext cx="3703320" cy="420624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371600"/>
            <a:ext cx="3703320" cy="64008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6304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Amazon Web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286000"/>
            <a:ext cx="3383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Broadest catalogue &amp; maturity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EC2, S3, RDS, Lambda, VPC, IAM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Strong startup &amp; enterprise use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Can feel complex for beginners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371600"/>
            <a:ext cx="3703320" cy="420624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371600"/>
            <a:ext cx="3703320" cy="64008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146304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Microsoft Azure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286000"/>
            <a:ext cx="3383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Strong Microsoft enterprise fit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VM, Blob, Azure SQL, App Service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Functions, AKS, Entra ID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Hybrid &amp; Windows/.NET friendly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371600"/>
            <a:ext cx="3703320" cy="420624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371600"/>
            <a:ext cx="3703320" cy="64008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46304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Google Cloud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286000"/>
            <a:ext cx="3383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Data, AI &amp; Kubernetes strengths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Compute Engine, Cloud Storage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BigQuery, GKE, Cloud Run, Vertex AI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Great for analytics / cloud-native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760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A66"/>
                </a:solidFill>
                <a:latin typeface="Calibri"/>
              </a:rPr>
              <a:t>Choose by workload, regions, price for real usage, team skills, security/compliance — not “which is best forever”. Multi-cloud adds flexibility but also complexity.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Cloud Applications in Real Life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E748A"/>
                </a:solidFill>
                <a:latin typeface="Calibri"/>
              </a:rPr>
              <a:t>Personal, education, business, commerce, media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Cloud Computing – I (CC-I)  |  05201289  |  Unit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31 / 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• Cloud Storage</a:t>
            </a:r>
            <a:r>
              <a:rPr sz="1600" b="0">
                <a:solidFill>
                  <a:srgbClr val="4A5A66"/>
                </a:solidFill>
                <a:latin typeface="Calibri"/>
              </a:rPr>
              <a:t> — Drive, OneDrive, Dropbox, iCloud — multi-device access &amp; sharing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• Email &amp; Productivity</a:t>
            </a:r>
            <a:r>
              <a:rPr sz="1600" b="0">
                <a:solidFill>
                  <a:srgbClr val="4A5A66"/>
                </a:solidFill>
                <a:latin typeface="Calibri"/>
              </a:rPr>
              <a:t> — Gmail, Outlook, Microsoft 365, Google Workspace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• Education</a:t>
            </a:r>
            <a:r>
              <a:rPr sz="1600" b="0">
                <a:solidFill>
                  <a:srgbClr val="4A5A66"/>
                </a:solidFill>
                <a:latin typeface="Calibri"/>
              </a:rPr>
              <a:t> — LMS, online classes, digital libraries, virtual labs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• Business SaaS</a:t>
            </a:r>
            <a:r>
              <a:rPr sz="1600" b="0">
                <a:solidFill>
                  <a:srgbClr val="4A5A66"/>
                </a:solidFill>
                <a:latin typeface="Calibri"/>
              </a:rPr>
              <a:t> — CRM, ERP, HR, accounting — Salesforce, Zoho, Dynamics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• E-commerce</a:t>
            </a:r>
            <a:r>
              <a:rPr sz="1600" b="0">
                <a:solidFill>
                  <a:srgbClr val="4A5A66"/>
                </a:solidFill>
                <a:latin typeface="Calibri"/>
              </a:rPr>
              <a:t> — Sites, payments, inventory, search — scale for sales &amp; festivals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• Entertainment</a:t>
            </a:r>
            <a:r>
              <a:rPr sz="1600" b="0">
                <a:solidFill>
                  <a:srgbClr val="4A5A66"/>
                </a:solidFill>
                <a:latin typeface="Calibri"/>
              </a:rPr>
              <a:t> — Netflix, YouTube, Spotify, gaming — CDN + analytics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Cloud Applications in Real Life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E748A"/>
                </a:solidFill>
                <a:latin typeface="Calibri"/>
              </a:rPr>
              <a:t>Healthcare, finance, government, science, IoT, DevOps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Cloud Computing – I (CC-I)  |  05201289  |  Unit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32 / 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• Healthcare</a:t>
            </a:r>
            <a:r>
              <a:rPr sz="1600" b="0">
                <a:solidFill>
                  <a:srgbClr val="4A5A66"/>
                </a:solidFill>
                <a:latin typeface="Calibri"/>
              </a:rPr>
              <a:t> — EHR, telemedicine, imaging — privacy &amp; compliance critical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• Banking &amp; Finance</a:t>
            </a:r>
            <a:r>
              <a:rPr sz="1600" b="0">
                <a:solidFill>
                  <a:srgbClr val="4A5A66"/>
                </a:solidFill>
                <a:latin typeface="Calibri"/>
              </a:rPr>
              <a:t> — Mobile banking, fraud detection — often hybrid cloud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• Government</a:t>
            </a:r>
            <a:r>
              <a:rPr sz="1600" b="0">
                <a:solidFill>
                  <a:srgbClr val="4A5A66"/>
                </a:solidFill>
                <a:latin typeface="Calibri"/>
              </a:rPr>
              <a:t> — Citizen portals, tax, digital ID — residency &amp; security matter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• Scientific Research</a:t>
            </a:r>
            <a:r>
              <a:rPr sz="1600" b="0">
                <a:solidFill>
                  <a:srgbClr val="4A5A66"/>
                </a:solidFill>
                <a:latin typeface="Calibri"/>
              </a:rPr>
              <a:t> — Rent large compute for simulations &amp; genome analysis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• AI &amp; IoT</a:t>
            </a:r>
            <a:r>
              <a:rPr sz="1600" b="0">
                <a:solidFill>
                  <a:srgbClr val="4A5A66"/>
                </a:solidFill>
                <a:latin typeface="Calibri"/>
              </a:rPr>
              <a:t> — Train/serve models; sensors send data for storage &amp; analytics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• Backup / DR &amp; Dev</a:t>
            </a:r>
            <a:r>
              <a:rPr sz="1600" b="0">
                <a:solidFill>
                  <a:srgbClr val="4A5A66"/>
                </a:solidFill>
                <a:latin typeface="Calibri"/>
              </a:rPr>
              <a:t> — Cloud backups; CI/CD, repos, container registries, monitoring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Migrating into the Cloud — Six R’s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E748A"/>
                </a:solidFill>
                <a:latin typeface="Calibri"/>
              </a:rPr>
              <a:t>Strategy choices for each application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Cloud Computing – I (CC-I)  |  05201289  |  Unit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33 / 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371600"/>
            <a:ext cx="3749039" cy="219456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371600"/>
            <a:ext cx="73152" cy="219456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46304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48A"/>
                </a:solidFill>
                <a:latin typeface="Calibri"/>
              </a:rPr>
              <a:t>Rehost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783080"/>
            <a:ext cx="3520439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Lift &amp; shift — minimal change (physical → cloud VM)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371600"/>
            <a:ext cx="3749039" cy="219456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371600"/>
            <a:ext cx="73152" cy="219456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46304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48A"/>
                </a:solidFill>
                <a:latin typeface="Calibri"/>
              </a:rPr>
              <a:t>Replatform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783080"/>
            <a:ext cx="3520439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Small improvements (e.g. managed DB) without full rewrite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371600"/>
            <a:ext cx="3749039" cy="219456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371600"/>
            <a:ext cx="73152" cy="219456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46304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48A"/>
                </a:solidFill>
                <a:latin typeface="Calibri"/>
              </a:rPr>
              <a:t>Repurchase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783080"/>
            <a:ext cx="3520439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Replace with SaaS product (e.g. local CRM → Salesforce)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749039"/>
            <a:ext cx="3749039" cy="219456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749039"/>
            <a:ext cx="73152" cy="219456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840479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48A"/>
                </a:solidFill>
                <a:latin typeface="Calibri"/>
              </a:rPr>
              <a:t>Refactor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160519"/>
            <a:ext cx="3520439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Redesign cloud-native: microservices, serverless, containers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60" y="3749039"/>
            <a:ext cx="3749039" cy="219456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51960" y="3749039"/>
            <a:ext cx="73152" cy="219456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3840479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48A"/>
                </a:solidFill>
                <a:latin typeface="Calibri"/>
              </a:rPr>
              <a:t>Retire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4160519"/>
            <a:ext cx="3520439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Remove unused / duplicate systems found during assessment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3749039"/>
            <a:ext cx="3749039" cy="219456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3749039"/>
            <a:ext cx="73152" cy="219456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3840479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48A"/>
                </a:solidFill>
                <a:latin typeface="Calibri"/>
              </a:rPr>
              <a:t>Retain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4160519"/>
            <a:ext cx="3520439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Keep on-prem for now — compliance, risk, complexity, cost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Migration Process &amp; Best Practices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E748A"/>
                </a:solidFill>
                <a:latin typeface="Calibri"/>
              </a:rPr>
              <a:t>Migration is a program — not only copying files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Cloud Computing – I (CC-I)  |  05201289  |  Unit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34 / 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• 1. Assess</a:t>
            </a:r>
            <a:r>
              <a:rPr sz="1500" b="0">
                <a:solidFill>
                  <a:srgbClr val="4A5A66"/>
                </a:solidFill>
                <a:latin typeface="Calibri"/>
              </a:rPr>
              <a:t> — Inventory apps, servers, DBs, users, dependencies, sensitivity, compliance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• 2. Choose strategy</a:t>
            </a:r>
            <a:r>
              <a:rPr sz="1500" b="0">
                <a:solidFill>
                  <a:srgbClr val="4A5A66"/>
                </a:solidFill>
                <a:latin typeface="Calibri"/>
              </a:rPr>
              <a:t> — Map each app to one of the Six R’s using business goals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• 3. Plan data move</a:t>
            </a:r>
            <a:r>
              <a:rPr sz="1500" b="0">
                <a:solidFill>
                  <a:srgbClr val="4A5A66"/>
                </a:solidFill>
                <a:latin typeface="Calibri"/>
              </a:rPr>
              <a:t> — Copy, validate, encrypt, sync; prepare backup &amp; rollback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• 4. Secure first</a:t>
            </a:r>
            <a:r>
              <a:rPr sz="1500" b="0">
                <a:solidFill>
                  <a:srgbClr val="4A5A66"/>
                </a:solidFill>
                <a:latin typeface="Calibri"/>
              </a:rPr>
              <a:t> — IAM, network, encryption, logging — shared responsibility from day one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• 5. Test thoroughly</a:t>
            </a:r>
            <a:r>
              <a:rPr sz="1500" b="0">
                <a:solidFill>
                  <a:srgbClr val="4A5A66"/>
                </a:solidFill>
                <a:latin typeface="Calibri"/>
              </a:rPr>
              <a:t> — Function, performance, security, backup, recovery, monitoring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• 6. Train &amp; operate</a:t>
            </a:r>
            <a:r>
              <a:rPr sz="1500" b="0">
                <a:solidFill>
                  <a:srgbClr val="4A5A66"/>
                </a:solidFill>
                <a:latin typeface="Calibri"/>
              </a:rPr>
              <a:t> — People learn new tools; migrate in waves to reduce risk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Trends in Cloud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E748A"/>
                </a:solidFill>
                <a:latin typeface="Calibri"/>
              </a:rPr>
              <a:t>Beyond basic VMs and storage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Cloud Computing – I (CC-I)  |  05201289  |  Unit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35 / 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32588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Hybrid &amp; Multi-cloud</a:t>
            </a:r>
            <a:r>
              <a:rPr sz="1400" b="0">
                <a:solidFill>
                  <a:srgbClr val="4A5A66"/>
                </a:solidFill>
                <a:latin typeface="Calibri"/>
              </a:rPr>
              <a:t> — Mix private/public; or use &gt;1 public provider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Edge computing</a:t>
            </a:r>
            <a:r>
              <a:rPr sz="1400" b="0">
                <a:solidFill>
                  <a:srgbClr val="4A5A66"/>
                </a:solidFill>
                <a:latin typeface="Calibri"/>
              </a:rPr>
              <a:t> — Process closer to users/devices for low latency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Serverless</a:t>
            </a:r>
            <a:r>
              <a:rPr sz="1400" b="0">
                <a:solidFill>
                  <a:srgbClr val="4A5A66"/>
                </a:solidFill>
                <a:latin typeface="Calibri"/>
              </a:rPr>
              <a:t> — Event-driven code without managing servers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Containers / K8s</a:t>
            </a:r>
            <a:r>
              <a:rPr sz="1400" b="0">
                <a:solidFill>
                  <a:srgbClr val="4A5A66"/>
                </a:solidFill>
                <a:latin typeface="Calibri"/>
              </a:rPr>
              <a:t> — Portable apps + cluster orchestration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AI / ML in cloud</a:t>
            </a:r>
            <a:r>
              <a:rPr sz="1400" b="0">
                <a:solidFill>
                  <a:srgbClr val="4A5A66"/>
                </a:solidFill>
                <a:latin typeface="Calibri"/>
              </a:rPr>
              <a:t> — GPUs, pipelines, generative AI APIs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Cloud-native &amp; FinOps</a:t>
            </a:r>
            <a:r>
              <a:rPr sz="1400" b="0">
                <a:solidFill>
                  <a:srgbClr val="4A5A66"/>
                </a:solidFill>
                <a:latin typeface="Calibri"/>
              </a:rPr>
              <a:t> — Microservices + cost governance (tag, rightsize)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Sustainable / Sovereign</a:t>
            </a:r>
            <a:r>
              <a:rPr sz="1400" b="0">
                <a:solidFill>
                  <a:srgbClr val="4A5A66"/>
                </a:solidFill>
                <a:latin typeface="Calibri"/>
              </a:rPr>
              <a:t> — Green DCs; data residency &amp; local legal control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Zero Trust &amp; Managed Svcs</a:t>
            </a:r>
            <a:r>
              <a:rPr sz="1400" b="0">
                <a:solidFill>
                  <a:srgbClr val="4A5A66"/>
                </a:solidFill>
                <a:latin typeface="Calibri"/>
              </a:rPr>
              <a:t> — Never trust by default; use managed DB/K8s/etc.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Future Scope &amp; Career Relevance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E748A"/>
                </a:solidFill>
                <a:latin typeface="Calibri"/>
              </a:rPr>
              <a:t>Cloud skills span development, ops, security &amp;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Cloud Computing – I (CC-I)  |  05201289  |  Unit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36 / 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371600"/>
            <a:ext cx="5669280" cy="475488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371600"/>
            <a:ext cx="73152" cy="475488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4630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48A"/>
                </a:solidFill>
                <a:latin typeface="Calibri"/>
              </a:rPr>
              <a:t>Career Roles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783080"/>
            <a:ext cx="54406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Cloud engineer / administrator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Cloud architect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DevOps / SRE engineer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Cloud security specialist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Data / ML engineer on cloud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Solutions architect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FinOps / cloud cost analyst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5486400" cy="4754880"/>
          </a:xfrm>
          <a:prstGeom prst="rect">
            <a:avLst/>
          </a:prstGeom>
          <a:solidFill>
            <a:srgbClr val="F5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73152" cy="475488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4630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48A"/>
                </a:solidFill>
                <a:latin typeface="Calibri"/>
              </a:rPr>
              <a:t>What to Learn Alongside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783080"/>
            <a:ext cx="52578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Networking &amp; Linux basics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Virtualization concepts (Unit 3)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IAM &amp; shared responsibility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Cost awareness &amp; metering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One major provider deeply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IaC, containers, CI/CD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Security &amp; compliance mindset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Unit 1 — 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E748A"/>
                </a:solidFill>
                <a:latin typeface="Calibri"/>
              </a:rPr>
              <a:t>Rapid revision checklist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Cloud Computing – I (CC-I)  |  05201289  |  Unit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37 / 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8016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Cloud = on-demand, networked access to a shared, elastic, measured resource pool (NIST)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Remember OBRUM: On-demand, Broad network, Resource pooling, rapid elasticity (Up/down), Measured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History: Mainframe → Cluster → Grid → Cloud; enabled by networking, virt, distribution, APIs, automation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Balance pros (speed, scale, OpEx) with cons (connectivity, security, lock-in, cost surprise)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Nature: service-oriented, virtualized, distributed, automated, SLA-driven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Working: Front end ↔ Network ↔ Back end (control plane, data plane, LB, auto scale, billing)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Models: IaaS/PaaS/SaaS (what) vs Public/Private/Hybrid/Community (where)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Migrate with Six R’s + assess → secure → test → wave rollout; watch current trends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623560"/>
            <a:ext cx="11155680" cy="640080"/>
          </a:xfrm>
          <a:prstGeom prst="rect">
            <a:avLst/>
          </a:prstGeom>
          <a:solidFill>
            <a:srgbClr val="0E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74243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Thank you  •  Prepare diagrams for working &amp; OBRUM  •  Next: Unit 2 Cloud Models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